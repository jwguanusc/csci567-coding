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Petrona"/>
      <p:regular r:id="rId13"/>
    </p:embeddedFont>
    <p:embeddedFont>
      <p:font typeface="Petrona"/>
      <p:regular r:id="rId14"/>
    </p:embeddedFont>
    <p:embeddedFont>
      <p:font typeface="Petrona"/>
      <p:regular r:id="rId15"/>
    </p:embeddedFont>
    <p:embeddedFont>
      <p:font typeface="Petrona"/>
      <p:regular r:id="rId16"/>
    </p:embeddedFon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30593"/>
            <a:ext cx="7556421" cy="136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2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House Price Prediction: Project Recap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6280190" y="2592705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Predicting house prices using the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Kaggle House Prices: Advanced Regression Techniques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dataset — exploring how linear, nonlinear, and combined modeling approaches affect prediction performance.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80190" y="3768566"/>
            <a:ext cx="3679031" cy="1824752"/>
          </a:xfrm>
          <a:prstGeom prst="roundRect">
            <a:avLst>
              <a:gd name="adj" fmla="val 4568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86168" y="3974544"/>
            <a:ext cx="2728913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Original Scope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486168" y="4434721"/>
            <a:ext cx="326707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comparison of regression models: Ridge, Lasso, and nonlinear methods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0157579" y="3768566"/>
            <a:ext cx="3679031" cy="1824752"/>
          </a:xfrm>
          <a:prstGeom prst="roundRect">
            <a:avLst>
              <a:gd name="adj" fmla="val 4568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63557" y="3974544"/>
            <a:ext cx="2728913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Refined Question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363557" y="4434721"/>
            <a:ext cx="326707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are linear models insufficient, and does combining models improve performance?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280190" y="5791676"/>
            <a:ext cx="7556421" cy="1507212"/>
          </a:xfrm>
          <a:prstGeom prst="roundRect">
            <a:avLst>
              <a:gd name="adj" fmla="val 5531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86168" y="5997654"/>
            <a:ext cx="2728913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Hypothesis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6486168" y="6457831"/>
            <a:ext cx="71444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Ensemble methods (hybrid &amp; stacking) improve accuracy by combining complementary model strengths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592931"/>
            <a:ext cx="5385792" cy="660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Algorithms &amp; Pipeline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630555" y="1533168"/>
            <a:ext cx="6588562" cy="6103382"/>
          </a:xfrm>
          <a:prstGeom prst="roundRect">
            <a:avLst>
              <a:gd name="adj" fmla="val 2268"/>
            </a:avLst>
          </a:prstGeom>
          <a:solidFill>
            <a:srgbClr val="6237C8"/>
          </a:solidFill>
          <a:ln/>
        </p:spPr>
      </p:sp>
      <p:sp>
        <p:nvSpPr>
          <p:cNvPr id="4" name="Text 2"/>
          <p:cNvSpPr/>
          <p:nvPr/>
        </p:nvSpPr>
        <p:spPr>
          <a:xfrm>
            <a:off x="822722" y="1719382"/>
            <a:ext cx="2643664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Preprocessing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822722" y="2235994"/>
            <a:ext cx="6204228" cy="1406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imputation &amp; categorical handling</a:t>
            </a:r>
            <a:endParaRPr lang="en-US" sz="150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One-hot encoding + ordinal mapping for quality features</a:t>
            </a:r>
            <a:endParaRPr lang="en-US" sz="150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transform: </a:t>
            </a:r>
            <a:pPr algn="l" indent="0" marL="0">
              <a:lnSpc>
                <a:spcPts val="23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= log(1 + SalePrice)</a:t>
            </a:r>
            <a:endParaRPr lang="en-US" sz="150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Predictions back-converted: </a:t>
            </a:r>
            <a:pPr algn="l" indent="0" marL="0">
              <a:lnSpc>
                <a:spcPts val="23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ŷ = exp(ŷ) − 1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557373" y="1719382"/>
            <a:ext cx="2643664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Models Implemented</a:t>
            </a:r>
            <a:endParaRPr lang="en-US" sz="2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9406" y="2265105"/>
            <a:ext cx="288369" cy="2883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2094" y="2259211"/>
            <a:ext cx="2643664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Ridge Regression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8182094" y="2775823"/>
            <a:ext cx="5686901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 ||y − Xw||² + λ||w||²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9406" y="3456920"/>
            <a:ext cx="288369" cy="28836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182094" y="3451027"/>
            <a:ext cx="2643664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Lasso Regression</a:t>
            </a:r>
            <a:endParaRPr lang="en-US" sz="2050" dirty="0"/>
          </a:p>
        </p:txBody>
      </p:sp>
      <p:sp>
        <p:nvSpPr>
          <p:cNvPr id="12" name="Text 8"/>
          <p:cNvSpPr/>
          <p:nvPr/>
        </p:nvSpPr>
        <p:spPr>
          <a:xfrm>
            <a:off x="8182094" y="3967639"/>
            <a:ext cx="5686901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 ||y − Xw||² + λ||w||₁</a:t>
            </a:r>
            <a:endParaRPr lang="en-US" sz="15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9406" y="4648736"/>
            <a:ext cx="288369" cy="2883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82094" y="4642842"/>
            <a:ext cx="2643664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Gradient Boosting</a:t>
            </a:r>
            <a:endParaRPr lang="en-US" sz="2050" dirty="0"/>
          </a:p>
        </p:txBody>
      </p:sp>
      <p:sp>
        <p:nvSpPr>
          <p:cNvPr id="15" name="Text 10"/>
          <p:cNvSpPr/>
          <p:nvPr/>
        </p:nvSpPr>
        <p:spPr>
          <a:xfrm>
            <a:off x="8182094" y="5159454"/>
            <a:ext cx="5686901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Fₘ(x) = Fₘ₋₁(x) + γₘhₘ(x)</a:t>
            </a:r>
            <a:endParaRPr lang="en-US" sz="15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9406" y="5840551"/>
            <a:ext cx="288369" cy="28836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182094" y="5834658"/>
            <a:ext cx="2643664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Hybrid &amp; Stacking</a:t>
            </a:r>
            <a:endParaRPr lang="en-US" sz="2050" dirty="0"/>
          </a:p>
        </p:txBody>
      </p:sp>
      <p:sp>
        <p:nvSpPr>
          <p:cNvPr id="18" name="Text 12"/>
          <p:cNvSpPr/>
          <p:nvPr/>
        </p:nvSpPr>
        <p:spPr>
          <a:xfrm>
            <a:off x="8182094" y="6351270"/>
            <a:ext cx="5686901" cy="60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ŷ_hybrid = α·ŷ_ridge + (1−α)·ŷ_GB; Stacking via meta-learner f(ŷ_ridge, ŷ_GB)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557373" y="7166253"/>
            <a:ext cx="6311622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models evaluated with </a:t>
            </a:r>
            <a:pPr algn="l" indent="0" marL="0">
              <a:lnSpc>
                <a:spcPts val="235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5-fold cross-validation</a:t>
            </a:r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35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RMSE</a:t>
            </a:r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03039"/>
            <a:ext cx="4605218" cy="575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Preliminary Results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12351" y="1533287"/>
            <a:ext cx="5717858" cy="552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~29k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2419945" y="2275523"/>
            <a:ext cx="2302550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GB RMSE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2351" y="2704505"/>
            <a:ext cx="5717858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performer — Gradient Boosting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2351" y="3317796"/>
            <a:ext cx="5717858" cy="552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~51k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2419945" y="4060031"/>
            <a:ext cx="2302550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Ridge RMSE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2351" y="4489013"/>
            <a:ext cx="5717858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baseline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2351" y="5102304"/>
            <a:ext cx="5717858" cy="552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~57k</a:t>
            </a:r>
            <a:endParaRPr lang="en-US" sz="4350" dirty="0"/>
          </a:p>
        </p:txBody>
      </p:sp>
      <p:sp>
        <p:nvSpPr>
          <p:cNvPr id="10" name="Text 8"/>
          <p:cNvSpPr/>
          <p:nvPr/>
        </p:nvSpPr>
        <p:spPr>
          <a:xfrm>
            <a:off x="2419945" y="5844540"/>
            <a:ext cx="2302550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Lasso RMSE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2351" y="6273522"/>
            <a:ext cx="5717858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error among all models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6213" y="1449586"/>
            <a:ext cx="7079218" cy="30099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12351" y="6838474"/>
            <a:ext cx="13205579" cy="887968"/>
          </a:xfrm>
          <a:prstGeom prst="roundRect">
            <a:avLst>
              <a:gd name="adj" fmla="val 7921"/>
            </a:avLst>
          </a:prstGeom>
          <a:solidFill>
            <a:srgbClr val="B6D6F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753" y="7083981"/>
            <a:ext cx="209312" cy="167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56467" y="7021473"/>
            <a:ext cx="12494062" cy="494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≈ GB and Stack ≈ GB — ensemble methods did not improve over Gradient Boosting alone, indicating the base models are not sufficiently complementary.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01954" y="377190"/>
            <a:ext cx="3532108" cy="437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Graph Interpretations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0345" y="977146"/>
            <a:ext cx="2357438" cy="2357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64907" y="3436382"/>
            <a:ext cx="1748195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RMSE Across Folds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301954" y="3703677"/>
            <a:ext cx="3274219" cy="500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GB is consistently lower across all folds. Ridge &amp; Lasso show large spikes — indicating instability and underfitting.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6362" y="977146"/>
            <a:ext cx="2357438" cy="23574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31148" y="3436382"/>
            <a:ext cx="1967984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Actual vs. Predicted (GB)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677972" y="3703677"/>
            <a:ext cx="3274338" cy="500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Points align closely along the diagonal — accurate overall. Slight spread at higher prices reveals larger errors for expensive houses.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2498" y="977146"/>
            <a:ext cx="2357438" cy="23574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17060" y="3436382"/>
            <a:ext cx="1748195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Residual Distribution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054108" y="3703677"/>
            <a:ext cx="3274219" cy="500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Centered around 0 — model is unbiased. Most residuals within ±30k, confirming RMSE ≈ 29k. Some large outliers increase RMSE.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6362" y="4366974"/>
            <a:ext cx="2357438" cy="23574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41043" y="6826210"/>
            <a:ext cx="1748195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Error vs. Price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677972" y="7093506"/>
            <a:ext cx="3274338" cy="500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pattern: higher price → larger error. Suggests </a:t>
            </a:r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heteroscedasticity</a:t>
            </a:r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model struggles most with expensive houses.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2301954" y="7685484"/>
            <a:ext cx="10026491" cy="166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features by importance: </a:t>
            </a:r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OverallQual, GrLivArea, TotalBsmtSF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matching real-world intuition and confirming the model learns meaningful patterns.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0372"/>
            <a:ext cx="5786795" cy="682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2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Challenges &amp; Solutions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793790" y="2149435"/>
            <a:ext cx="6422231" cy="1537692"/>
          </a:xfrm>
          <a:prstGeom prst="roundRect">
            <a:avLst>
              <a:gd name="adj" fmla="val 7136"/>
            </a:avLst>
          </a:prstGeom>
          <a:solidFill>
            <a:srgbClr val="FDFAF7"/>
          </a:solidFill>
          <a:ln w="22860">
            <a:solidFill>
              <a:srgbClr val="C6BD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2149435"/>
            <a:ext cx="91440" cy="1537692"/>
          </a:xfrm>
          <a:prstGeom prst="roundRect">
            <a:avLst>
              <a:gd name="adj" fmla="val 91163"/>
            </a:avLst>
          </a:prstGeom>
          <a:solidFill>
            <a:srgbClr val="6237C8"/>
          </a:solidFill>
          <a:ln/>
        </p:spPr>
      </p:sp>
      <p:sp>
        <p:nvSpPr>
          <p:cNvPr id="5" name="Text 3"/>
          <p:cNvSpPr/>
          <p:nvPr/>
        </p:nvSpPr>
        <p:spPr>
          <a:xfrm>
            <a:off x="1083588" y="2370653"/>
            <a:ext cx="2728913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Scope Too Simple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83588" y="2830830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design was a basic model comparison → expanded to hybrid + stacking to study model complementarity.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2149435"/>
            <a:ext cx="6422231" cy="1537692"/>
          </a:xfrm>
          <a:prstGeom prst="roundRect">
            <a:avLst>
              <a:gd name="adj" fmla="val 7136"/>
            </a:avLst>
          </a:prstGeom>
          <a:solidFill>
            <a:srgbClr val="FDFAF7"/>
          </a:solidFill>
          <a:ln w="22860">
            <a:solidFill>
              <a:srgbClr val="C6BD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1519" y="2149435"/>
            <a:ext cx="91440" cy="1537692"/>
          </a:xfrm>
          <a:prstGeom prst="roundRect">
            <a:avLst>
              <a:gd name="adj" fmla="val 91163"/>
            </a:avLst>
          </a:prstGeom>
          <a:solidFill>
            <a:srgbClr val="6237C8"/>
          </a:solidFill>
          <a:ln/>
        </p:spPr>
      </p:sp>
      <p:sp>
        <p:nvSpPr>
          <p:cNvPr id="9" name="Text 7"/>
          <p:cNvSpPr/>
          <p:nvPr/>
        </p:nvSpPr>
        <p:spPr>
          <a:xfrm>
            <a:off x="7704177" y="2370653"/>
            <a:ext cx="2949773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Complex Preprocessing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704177" y="2830830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Handled via a structured pipeline: imputation, encoding, log transformation, and ordinal mapping.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3885486"/>
            <a:ext cx="6422231" cy="1537692"/>
          </a:xfrm>
          <a:prstGeom prst="roundRect">
            <a:avLst>
              <a:gd name="adj" fmla="val 7136"/>
            </a:avLst>
          </a:prstGeom>
          <a:solidFill>
            <a:srgbClr val="FDFAF7"/>
          </a:solidFill>
          <a:ln w="22860">
            <a:solidFill>
              <a:srgbClr val="C6BD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0930" y="3885486"/>
            <a:ext cx="91440" cy="1537692"/>
          </a:xfrm>
          <a:prstGeom prst="roundRect">
            <a:avLst>
              <a:gd name="adj" fmla="val 91163"/>
            </a:avLst>
          </a:prstGeom>
          <a:solidFill>
            <a:srgbClr val="6237C8"/>
          </a:solidFill>
          <a:ln/>
        </p:spPr>
      </p:sp>
      <p:sp>
        <p:nvSpPr>
          <p:cNvPr id="13" name="Text 11"/>
          <p:cNvSpPr/>
          <p:nvPr/>
        </p:nvSpPr>
        <p:spPr>
          <a:xfrm>
            <a:off x="1083588" y="4106704"/>
            <a:ext cx="3983117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Linear Models Underperformed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83588" y="4566880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Ridge and Lasso showed high, unstable RMSE → introduced Gradient Boosting as the primary nonlinear model.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14379" y="3885486"/>
            <a:ext cx="6422231" cy="1537692"/>
          </a:xfrm>
          <a:prstGeom prst="roundRect">
            <a:avLst>
              <a:gd name="adj" fmla="val 7136"/>
            </a:avLst>
          </a:prstGeom>
          <a:solidFill>
            <a:srgbClr val="FDFAF7"/>
          </a:solidFill>
          <a:ln w="22860">
            <a:solidFill>
              <a:srgbClr val="C6BD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1519" y="3885486"/>
            <a:ext cx="91440" cy="1537692"/>
          </a:xfrm>
          <a:prstGeom prst="roundRect">
            <a:avLst>
              <a:gd name="adj" fmla="val 91163"/>
            </a:avLst>
          </a:prstGeom>
          <a:solidFill>
            <a:srgbClr val="6237C8"/>
          </a:solidFill>
          <a:ln/>
        </p:spPr>
      </p:sp>
      <p:sp>
        <p:nvSpPr>
          <p:cNvPr id="17" name="Text 15"/>
          <p:cNvSpPr/>
          <p:nvPr/>
        </p:nvSpPr>
        <p:spPr>
          <a:xfrm>
            <a:off x="7704177" y="4106704"/>
            <a:ext cx="3628192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Hybrid Model Failed Initially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704177" y="4566880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Residual-based hybrid did not work → switched to weighted hybrid: ŷ = α·ŷ_ridge + (1−α)·ŷ_GB.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93790" y="5621536"/>
            <a:ext cx="6422231" cy="1537692"/>
          </a:xfrm>
          <a:prstGeom prst="roundRect">
            <a:avLst>
              <a:gd name="adj" fmla="val 7136"/>
            </a:avLst>
          </a:prstGeom>
          <a:solidFill>
            <a:srgbClr val="FDFAF7"/>
          </a:solidFill>
          <a:ln w="22860">
            <a:solidFill>
              <a:srgbClr val="C6BD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0930" y="5621536"/>
            <a:ext cx="91440" cy="1537692"/>
          </a:xfrm>
          <a:prstGeom prst="roundRect">
            <a:avLst>
              <a:gd name="adj" fmla="val 91163"/>
            </a:avLst>
          </a:prstGeom>
          <a:solidFill>
            <a:srgbClr val="6237C8"/>
          </a:solidFill>
          <a:ln/>
        </p:spPr>
      </p:sp>
      <p:sp>
        <p:nvSpPr>
          <p:cNvPr id="21" name="Text 19"/>
          <p:cNvSpPr/>
          <p:nvPr/>
        </p:nvSpPr>
        <p:spPr>
          <a:xfrm>
            <a:off x="1083588" y="5842754"/>
            <a:ext cx="2728913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Leakage Risk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83588" y="6302931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Avoided by not tuning α dynamically on validation data.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414379" y="5621536"/>
            <a:ext cx="6422231" cy="1537692"/>
          </a:xfrm>
          <a:prstGeom prst="roundRect">
            <a:avLst>
              <a:gd name="adj" fmla="val 7136"/>
            </a:avLst>
          </a:prstGeom>
          <a:solidFill>
            <a:srgbClr val="FDFAF7"/>
          </a:solidFill>
          <a:ln w="22860">
            <a:solidFill>
              <a:srgbClr val="C6BD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91519" y="5621536"/>
            <a:ext cx="91440" cy="1537692"/>
          </a:xfrm>
          <a:prstGeom prst="roundRect">
            <a:avLst>
              <a:gd name="adj" fmla="val 91163"/>
            </a:avLst>
          </a:prstGeom>
          <a:solidFill>
            <a:srgbClr val="6237C8"/>
          </a:solidFill>
          <a:ln/>
        </p:spPr>
      </p:sp>
      <p:sp>
        <p:nvSpPr>
          <p:cNvPr id="25" name="Text 23"/>
          <p:cNvSpPr/>
          <p:nvPr/>
        </p:nvSpPr>
        <p:spPr>
          <a:xfrm>
            <a:off x="7704177" y="5842754"/>
            <a:ext cx="3223974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Stacking Did Not Improve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704177" y="6302931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Revealed lack of model complementarity — GB already captures both linear and nonlinear relationships.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13278"/>
            <a:ext cx="6104811" cy="543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Final Report Plan &amp; Next Steps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65359" y="1245870"/>
            <a:ext cx="6270665" cy="5516285"/>
          </a:xfrm>
          <a:prstGeom prst="roundRect">
            <a:avLst>
              <a:gd name="adj" fmla="val 2064"/>
            </a:avLst>
          </a:prstGeom>
          <a:solidFill>
            <a:srgbClr val="6237C8"/>
          </a:solidFill>
          <a:ln/>
        </p:spPr>
      </p:sp>
      <p:sp>
        <p:nvSpPr>
          <p:cNvPr id="4" name="Text 2"/>
          <p:cNvSpPr/>
          <p:nvPr/>
        </p:nvSpPr>
        <p:spPr>
          <a:xfrm>
            <a:off x="1123474" y="1371838"/>
            <a:ext cx="2523887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Final Report Will Include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23474" y="1769626"/>
            <a:ext cx="5954435" cy="1041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Finalized comparisons across all models</a:t>
            </a:r>
            <a:endParaRPr lang="en-US" sz="12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explanation of hybrid and stacking approaches</a:t>
            </a:r>
            <a:endParaRPr lang="en-US" sz="12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Strengthened graph interpretation</a:t>
            </a:r>
            <a:endParaRPr lang="en-US" sz="12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connection of results back to hypothesis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15582" y="1371838"/>
            <a:ext cx="2174677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If Time Permits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15582" y="1785342"/>
            <a:ext cx="316230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15582" y="2031206"/>
            <a:ext cx="6043017" cy="2286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9" name="Text 7"/>
          <p:cNvSpPr/>
          <p:nvPr/>
        </p:nvSpPr>
        <p:spPr>
          <a:xfrm>
            <a:off x="7515582" y="2155984"/>
            <a:ext cx="2859762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Explore LightGBM / XGBoost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15582" y="2553772"/>
            <a:ext cx="6043017" cy="227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powerful boosting alternatives to test further gains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15582" y="3025616"/>
            <a:ext cx="316230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15582" y="3271480"/>
            <a:ext cx="6043017" cy="2286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13" name="Text 11"/>
          <p:cNvSpPr/>
          <p:nvPr/>
        </p:nvSpPr>
        <p:spPr>
          <a:xfrm>
            <a:off x="7515582" y="3396258"/>
            <a:ext cx="2237899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More Diverse Stacking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15582" y="3794046"/>
            <a:ext cx="6043017" cy="227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ensemble with additional base models for true complementarity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15582" y="4265890"/>
            <a:ext cx="316230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15582" y="4511754"/>
            <a:ext cx="6043017" cy="2286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17" name="Text 15"/>
          <p:cNvSpPr/>
          <p:nvPr/>
        </p:nvSpPr>
        <p:spPr>
          <a:xfrm>
            <a:off x="7515582" y="4636532"/>
            <a:ext cx="2174677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Engineering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515582" y="5034320"/>
            <a:ext cx="6043017" cy="227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new features to improve signal quality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15582" y="5506164"/>
            <a:ext cx="316230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15582" y="5752028"/>
            <a:ext cx="6043017" cy="2286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21" name="Text 19"/>
          <p:cNvSpPr/>
          <p:nvPr/>
        </p:nvSpPr>
        <p:spPr>
          <a:xfrm>
            <a:off x="7515582" y="5876806"/>
            <a:ext cx="2932390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Error Analysis by Price Range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515582" y="6274594"/>
            <a:ext cx="6043017" cy="227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heteroscedasticity and improve accuracy for expensive houses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79183" y="6903839"/>
            <a:ext cx="12471916" cy="812483"/>
          </a:xfrm>
          <a:prstGeom prst="roundRect">
            <a:avLst>
              <a:gd name="adj" fmla="val 8176"/>
            </a:avLst>
          </a:prstGeom>
          <a:solidFill>
            <a:srgbClr val="B6FCB8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7298" y="7130772"/>
            <a:ext cx="197644" cy="158115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593056" y="7069336"/>
            <a:ext cx="11799927" cy="454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Takeaway: Gradient Boosting already captures both linear and nonlinear relationships, leaving little room for ensemble gains — a meaningful finding in itself.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2026-04-23T03:18:39Z</dcterms:created>
  <dcterms:modified xsi:type="dcterms:W3CDTF">2026-04-23T03:18:39Z</dcterms:modified>
</cp:coreProperties>
</file>