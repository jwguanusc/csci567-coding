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58" r:id="rId4"/>
    <p:sldId id="259" r:id="rId5"/>
    <p:sldId id="260" r:id="rId6"/>
    <p:sldId id="261" r:id="rId7"/>
  </p:sldIdLst>
  <p:sldSz cx="14630400" cy="8229600"/>
  <p:notesSz cx="8229600" cy="14630400"/>
  <p:embeddedFontLst>
    <p:embeddedFont>
      <p:font typeface="Inter" panose="02000503000000020004"/>
      <p:regular r:id="rId9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6" d="100"/>
          <a:sy n="106" d="100"/>
        </p:scale>
        <p:origin x="52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font" Target="fonts/font1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827419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AF2E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DFAF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2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AF2E9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DFAF7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3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AF2E9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DFAF7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4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AF2E9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DFAF7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5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AF2E9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DFAF7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6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AF2E9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DFAF7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5486400" cy="8229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280190" y="930593"/>
            <a:ext cx="7556421" cy="1364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5350"/>
              </a:lnSpc>
              <a:buNone/>
            </a:pPr>
            <a:r>
              <a:rPr lang="en-US" sz="4250" b="1" dirty="0">
                <a:solidFill>
                  <a:srgbClr val="F95F88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House Price Prediction: Project Recap</a:t>
            </a:r>
            <a:endParaRPr lang="en-US" sz="4250" dirty="0"/>
          </a:p>
        </p:txBody>
      </p:sp>
      <p:sp>
        <p:nvSpPr>
          <p:cNvPr id="4" name="Text 1"/>
          <p:cNvSpPr/>
          <p:nvPr/>
        </p:nvSpPr>
        <p:spPr>
          <a:xfrm>
            <a:off x="6280190" y="2592705"/>
            <a:ext cx="7556421" cy="9526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15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Predicting house prices using the </a:t>
            </a:r>
            <a:r>
              <a:rPr lang="en-US" sz="1550" b="1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Kaggle House Prices: Advanced Regression Techniques</a:t>
            </a:r>
            <a:r>
              <a:rPr lang="en-US" sz="15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dataset — exploring how linear, nonlinear, and combined modeling approaches affect prediction performance.</a:t>
            </a:r>
            <a:endParaRPr lang="en-US" sz="1550" dirty="0"/>
          </a:p>
        </p:txBody>
      </p:sp>
      <p:sp>
        <p:nvSpPr>
          <p:cNvPr id="5" name="Shape 2"/>
          <p:cNvSpPr/>
          <p:nvPr/>
        </p:nvSpPr>
        <p:spPr>
          <a:xfrm>
            <a:off x="6280190" y="3768566"/>
            <a:ext cx="3679031" cy="1824752"/>
          </a:xfrm>
          <a:prstGeom prst="roundRect">
            <a:avLst>
              <a:gd name="adj" fmla="val 4568"/>
            </a:avLst>
          </a:prstGeom>
          <a:solidFill>
            <a:srgbClr val="E0D7F4"/>
          </a:solidFill>
          <a:ln w="7620">
            <a:solidFill>
              <a:srgbClr val="C6BDD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6486168" y="3974544"/>
            <a:ext cx="2728913" cy="3411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50"/>
              </a:lnSpc>
              <a:buNone/>
            </a:pPr>
            <a:r>
              <a:rPr lang="en-US" sz="210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Original Scope</a:t>
            </a:r>
            <a:endParaRPr lang="en-US" sz="2100" dirty="0"/>
          </a:p>
        </p:txBody>
      </p:sp>
      <p:sp>
        <p:nvSpPr>
          <p:cNvPr id="7" name="Text 4"/>
          <p:cNvSpPr/>
          <p:nvPr/>
        </p:nvSpPr>
        <p:spPr>
          <a:xfrm>
            <a:off x="6486168" y="4434721"/>
            <a:ext cx="3267075" cy="9526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15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Standard comparison of regression models: Ridge, Lasso, and nonlinear methods</a:t>
            </a:r>
            <a:endParaRPr lang="en-US" sz="1550" dirty="0"/>
          </a:p>
        </p:txBody>
      </p:sp>
      <p:sp>
        <p:nvSpPr>
          <p:cNvPr id="8" name="Shape 5"/>
          <p:cNvSpPr/>
          <p:nvPr/>
        </p:nvSpPr>
        <p:spPr>
          <a:xfrm>
            <a:off x="10157579" y="3768566"/>
            <a:ext cx="3679031" cy="1824752"/>
          </a:xfrm>
          <a:prstGeom prst="roundRect">
            <a:avLst>
              <a:gd name="adj" fmla="val 4568"/>
            </a:avLst>
          </a:prstGeom>
          <a:solidFill>
            <a:srgbClr val="E0D7F4"/>
          </a:solidFill>
          <a:ln w="7620">
            <a:solidFill>
              <a:srgbClr val="C6BDD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10363557" y="3974544"/>
            <a:ext cx="2728913" cy="3411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50"/>
              </a:lnSpc>
              <a:buNone/>
            </a:pPr>
            <a:r>
              <a:rPr lang="en-US" sz="210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Refined Question</a:t>
            </a:r>
            <a:endParaRPr lang="en-US" sz="2100" dirty="0"/>
          </a:p>
        </p:txBody>
      </p:sp>
      <p:sp>
        <p:nvSpPr>
          <p:cNvPr id="10" name="Text 7"/>
          <p:cNvSpPr/>
          <p:nvPr/>
        </p:nvSpPr>
        <p:spPr>
          <a:xfrm>
            <a:off x="10363557" y="4434721"/>
            <a:ext cx="3267075" cy="9526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15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When are linear models insufficient, and does combining models improve performance?</a:t>
            </a:r>
            <a:endParaRPr lang="en-US" sz="1550" dirty="0"/>
          </a:p>
        </p:txBody>
      </p:sp>
      <p:sp>
        <p:nvSpPr>
          <p:cNvPr id="11" name="Shape 8"/>
          <p:cNvSpPr/>
          <p:nvPr/>
        </p:nvSpPr>
        <p:spPr>
          <a:xfrm>
            <a:off x="6280190" y="5791676"/>
            <a:ext cx="7556421" cy="1507212"/>
          </a:xfrm>
          <a:prstGeom prst="roundRect">
            <a:avLst>
              <a:gd name="adj" fmla="val 5531"/>
            </a:avLst>
          </a:prstGeom>
          <a:solidFill>
            <a:srgbClr val="E0D7F4"/>
          </a:solidFill>
          <a:ln w="7620">
            <a:solidFill>
              <a:srgbClr val="C6BDD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6486168" y="5997654"/>
            <a:ext cx="2728913" cy="3411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50"/>
              </a:lnSpc>
              <a:buNone/>
            </a:pPr>
            <a:r>
              <a:rPr lang="en-US" sz="210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Core Hypothesis</a:t>
            </a:r>
            <a:endParaRPr lang="en-US" sz="2100" dirty="0"/>
          </a:p>
        </p:txBody>
      </p:sp>
      <p:sp>
        <p:nvSpPr>
          <p:cNvPr id="13" name="Text 10"/>
          <p:cNvSpPr/>
          <p:nvPr/>
        </p:nvSpPr>
        <p:spPr>
          <a:xfrm>
            <a:off x="6486168" y="6457831"/>
            <a:ext cx="7144464" cy="635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15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Ensemble methods (hybrid &amp; stacking) improve accuracy by combining complementary model strengths</a:t>
            </a:r>
            <a:endParaRPr lang="en-US" sz="15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9025" y="592931"/>
            <a:ext cx="5385792" cy="6609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200"/>
              </a:lnSpc>
              <a:buNone/>
            </a:pPr>
            <a:r>
              <a:rPr lang="en-US" sz="4150" b="1" dirty="0">
                <a:solidFill>
                  <a:srgbClr val="F95F88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Algorithms &amp; Pipeline</a:t>
            </a:r>
            <a:endParaRPr lang="en-US" sz="4150" dirty="0"/>
          </a:p>
        </p:txBody>
      </p:sp>
      <p:sp>
        <p:nvSpPr>
          <p:cNvPr id="3" name="Shape 1"/>
          <p:cNvSpPr/>
          <p:nvPr/>
        </p:nvSpPr>
        <p:spPr>
          <a:xfrm>
            <a:off x="630555" y="1533168"/>
            <a:ext cx="6588562" cy="6103382"/>
          </a:xfrm>
          <a:prstGeom prst="roundRect">
            <a:avLst>
              <a:gd name="adj" fmla="val 2268"/>
            </a:avLst>
          </a:prstGeom>
          <a:solidFill>
            <a:srgbClr val="6237C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822722" y="1719382"/>
            <a:ext cx="2643664" cy="3303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00"/>
              </a:lnSpc>
              <a:buNone/>
            </a:pPr>
            <a:r>
              <a:rPr lang="en-US" sz="2050" b="1" dirty="0">
                <a:solidFill>
                  <a:srgbClr val="FFFFFF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Preprocessing</a:t>
            </a:r>
            <a:endParaRPr lang="en-US" sz="2050" dirty="0"/>
          </a:p>
        </p:txBody>
      </p:sp>
      <p:sp>
        <p:nvSpPr>
          <p:cNvPr id="5" name="Text 3"/>
          <p:cNvSpPr/>
          <p:nvPr/>
        </p:nvSpPr>
        <p:spPr>
          <a:xfrm>
            <a:off x="822722" y="2235994"/>
            <a:ext cx="6204228" cy="14064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350"/>
              </a:lnSpc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Median imputation &amp; categorical handling</a:t>
            </a:r>
            <a:endParaRPr lang="en-US" sz="1500" dirty="0"/>
          </a:p>
          <a:p>
            <a:pPr marL="342900" indent="-342900" algn="l">
              <a:lnSpc>
                <a:spcPts val="2350"/>
              </a:lnSpc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One-hot encoding + ordinal mapping for quality features</a:t>
            </a:r>
            <a:endParaRPr lang="en-US" sz="1500" dirty="0"/>
          </a:p>
          <a:p>
            <a:pPr marL="342900" indent="-342900" algn="l">
              <a:lnSpc>
                <a:spcPts val="2350"/>
              </a:lnSpc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 transform: </a:t>
            </a: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 = log(1 + SalePrice)</a:t>
            </a:r>
            <a:endParaRPr lang="en-US" sz="1500" dirty="0"/>
          </a:p>
          <a:p>
            <a:pPr marL="342900" indent="-342900" algn="l">
              <a:lnSpc>
                <a:spcPts val="2350"/>
              </a:lnSpc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Predictions back-converted: </a:t>
            </a: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ŷ = exp(ŷ) − 1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557373" y="1719382"/>
            <a:ext cx="2643664" cy="3303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00"/>
              </a:lnSpc>
              <a:buNone/>
            </a:pPr>
            <a:r>
              <a:rPr lang="en-US" sz="2050" b="1" dirty="0">
                <a:solidFill>
                  <a:srgbClr val="F95F88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Models Implemented</a:t>
            </a:r>
            <a:endParaRPr lang="en-US" sz="205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629406" y="2265105"/>
            <a:ext cx="288369" cy="288369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182094" y="2259211"/>
            <a:ext cx="2643664" cy="3303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00"/>
              </a:lnSpc>
              <a:buNone/>
            </a:pPr>
            <a:r>
              <a:rPr lang="en-US" sz="205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Ridge Regression</a:t>
            </a:r>
            <a:endParaRPr lang="en-US" sz="2050" dirty="0"/>
          </a:p>
        </p:txBody>
      </p:sp>
      <p:sp>
        <p:nvSpPr>
          <p:cNvPr id="9" name="Text 6"/>
          <p:cNvSpPr/>
          <p:nvPr/>
        </p:nvSpPr>
        <p:spPr>
          <a:xfrm>
            <a:off x="8182094" y="2775823"/>
            <a:ext cx="5686901" cy="30277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50"/>
              </a:lnSpc>
              <a:buNone/>
            </a:pPr>
            <a:r>
              <a:rPr lang="en-US" sz="15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min ||y − Xw||² + λ||w||²</a:t>
            </a:r>
            <a:endParaRPr lang="en-US" sz="1500" dirty="0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629406" y="3456920"/>
            <a:ext cx="288369" cy="288369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8182094" y="3451027"/>
            <a:ext cx="2643664" cy="3303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00"/>
              </a:lnSpc>
              <a:buNone/>
            </a:pPr>
            <a:r>
              <a:rPr lang="en-US" sz="205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Lasso Regression</a:t>
            </a:r>
            <a:endParaRPr lang="en-US" sz="2050" dirty="0"/>
          </a:p>
        </p:txBody>
      </p:sp>
      <p:sp>
        <p:nvSpPr>
          <p:cNvPr id="12" name="Text 8"/>
          <p:cNvSpPr/>
          <p:nvPr/>
        </p:nvSpPr>
        <p:spPr>
          <a:xfrm>
            <a:off x="8182094" y="3967639"/>
            <a:ext cx="5686901" cy="30277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50"/>
              </a:lnSpc>
              <a:buNone/>
            </a:pPr>
            <a:r>
              <a:rPr lang="en-US" sz="15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min ||y − Xw||² + λ||w||₁</a:t>
            </a:r>
            <a:endParaRPr lang="en-US" sz="1500" dirty="0"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629406" y="4648736"/>
            <a:ext cx="288369" cy="288369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8182094" y="4642842"/>
            <a:ext cx="2643664" cy="3303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00"/>
              </a:lnSpc>
              <a:buNone/>
            </a:pPr>
            <a:r>
              <a:rPr lang="en-US" sz="205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Gradient Boosting</a:t>
            </a:r>
            <a:endParaRPr lang="en-US" sz="2050" dirty="0"/>
          </a:p>
        </p:txBody>
      </p:sp>
      <p:sp>
        <p:nvSpPr>
          <p:cNvPr id="15" name="Text 10"/>
          <p:cNvSpPr/>
          <p:nvPr/>
        </p:nvSpPr>
        <p:spPr>
          <a:xfrm>
            <a:off x="8182094" y="5159454"/>
            <a:ext cx="5686901" cy="30277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50"/>
              </a:lnSpc>
              <a:buNone/>
            </a:pPr>
            <a:r>
              <a:rPr lang="en-US" sz="15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Fₘ(x) = Fₘ₋₁(x) + γₘhₘ(x)</a:t>
            </a:r>
            <a:endParaRPr lang="en-US" sz="1500" dirty="0"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629406" y="5840551"/>
            <a:ext cx="288369" cy="288369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8182094" y="5834658"/>
            <a:ext cx="2643664" cy="3303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00"/>
              </a:lnSpc>
              <a:buNone/>
            </a:pPr>
            <a:r>
              <a:rPr lang="en-US" sz="205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Hybrid &amp; Stacking</a:t>
            </a:r>
            <a:endParaRPr lang="en-US" sz="2050" dirty="0"/>
          </a:p>
        </p:txBody>
      </p:sp>
      <p:sp>
        <p:nvSpPr>
          <p:cNvPr id="18" name="Text 12"/>
          <p:cNvSpPr/>
          <p:nvPr/>
        </p:nvSpPr>
        <p:spPr>
          <a:xfrm>
            <a:off x="8182094" y="6351270"/>
            <a:ext cx="5686901" cy="605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350"/>
              </a:lnSpc>
              <a:buNone/>
            </a:pPr>
            <a:r>
              <a:rPr lang="en-US" sz="15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ŷ_hybrid = α·ŷ_ridge + (1−α)·ŷ_GB; Stacking via meta-learner f(ŷ_ridge, ŷ_GB)</a:t>
            </a:r>
            <a:endParaRPr lang="en-US" sz="1500" dirty="0"/>
          </a:p>
        </p:txBody>
      </p:sp>
      <p:sp>
        <p:nvSpPr>
          <p:cNvPr id="19" name="Text 13"/>
          <p:cNvSpPr/>
          <p:nvPr/>
        </p:nvSpPr>
        <p:spPr>
          <a:xfrm>
            <a:off x="7557373" y="7166253"/>
            <a:ext cx="6311622" cy="30277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50"/>
              </a:lnSpc>
              <a:buNone/>
            </a:pPr>
            <a:r>
              <a:rPr lang="en-US" sz="15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All models evaluated with </a:t>
            </a:r>
            <a:r>
              <a:rPr lang="en-US" sz="1500" b="1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5-fold cross-validation</a:t>
            </a:r>
            <a:r>
              <a:rPr lang="en-US" sz="15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and </a:t>
            </a:r>
            <a:r>
              <a:rPr lang="en-US" sz="1500" b="1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RMSE</a:t>
            </a:r>
            <a:r>
              <a:rPr lang="en-US" sz="15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12351" y="503039"/>
            <a:ext cx="4605218" cy="57566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500"/>
              </a:lnSpc>
              <a:buNone/>
            </a:pPr>
            <a:r>
              <a:rPr lang="en-US" sz="3600" b="1" dirty="0">
                <a:solidFill>
                  <a:srgbClr val="F95F88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Preliminary Results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12351" y="1533287"/>
            <a:ext cx="5717858" cy="5525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4350"/>
              </a:lnSpc>
              <a:buNone/>
            </a:pPr>
            <a:r>
              <a:rPr lang="en-US" sz="435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~29k</a:t>
            </a:r>
            <a:endParaRPr lang="en-US" sz="4350" dirty="0"/>
          </a:p>
        </p:txBody>
      </p:sp>
      <p:sp>
        <p:nvSpPr>
          <p:cNvPr id="4" name="Text 2"/>
          <p:cNvSpPr/>
          <p:nvPr/>
        </p:nvSpPr>
        <p:spPr>
          <a:xfrm>
            <a:off x="2419945" y="2275523"/>
            <a:ext cx="2302550" cy="2877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250"/>
              </a:lnSpc>
              <a:buNone/>
            </a:pPr>
            <a:r>
              <a:rPr lang="en-US" sz="180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GB RMSE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12351" y="2704505"/>
            <a:ext cx="5717858" cy="2470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1900"/>
              </a:lnSpc>
              <a:buNone/>
            </a:pPr>
            <a:r>
              <a:rPr lang="en-US" sz="13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performer — Gradient Boosting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12351" y="3317796"/>
            <a:ext cx="5717858" cy="5525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4350"/>
              </a:lnSpc>
              <a:buNone/>
            </a:pPr>
            <a:r>
              <a:rPr lang="en-US" sz="435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~51k</a:t>
            </a:r>
            <a:endParaRPr lang="en-US" sz="4350" dirty="0"/>
          </a:p>
        </p:txBody>
      </p:sp>
      <p:sp>
        <p:nvSpPr>
          <p:cNvPr id="7" name="Text 5"/>
          <p:cNvSpPr/>
          <p:nvPr/>
        </p:nvSpPr>
        <p:spPr>
          <a:xfrm>
            <a:off x="2419945" y="4060031"/>
            <a:ext cx="2302550" cy="2877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250"/>
              </a:lnSpc>
              <a:buNone/>
            </a:pPr>
            <a:r>
              <a:rPr lang="en-US" sz="180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Ridge RMSE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12351" y="4489013"/>
            <a:ext cx="5717858" cy="2470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1900"/>
              </a:lnSpc>
              <a:buNone/>
            </a:pPr>
            <a:r>
              <a:rPr lang="en-US" sz="13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Linear baseline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12351" y="5102304"/>
            <a:ext cx="5717858" cy="5525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4350"/>
              </a:lnSpc>
              <a:buNone/>
            </a:pPr>
            <a:r>
              <a:rPr lang="en-US" sz="435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~57k</a:t>
            </a:r>
            <a:endParaRPr lang="en-US" sz="4350" dirty="0"/>
          </a:p>
        </p:txBody>
      </p:sp>
      <p:sp>
        <p:nvSpPr>
          <p:cNvPr id="10" name="Text 8"/>
          <p:cNvSpPr/>
          <p:nvPr/>
        </p:nvSpPr>
        <p:spPr>
          <a:xfrm>
            <a:off x="2419945" y="5844540"/>
            <a:ext cx="2302550" cy="2877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250"/>
              </a:lnSpc>
              <a:buNone/>
            </a:pPr>
            <a:r>
              <a:rPr lang="en-US" sz="180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Lasso RMSE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712351" y="6273522"/>
            <a:ext cx="5717858" cy="2470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1900"/>
              </a:lnSpc>
              <a:buNone/>
            </a:pPr>
            <a:r>
              <a:rPr lang="en-US" sz="13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Highest error among all models</a:t>
            </a:r>
            <a:endParaRPr lang="en-US" sz="1300" dirty="0"/>
          </a:p>
        </p:txBody>
      </p:sp>
      <p:pic>
        <p:nvPicPr>
          <p:cNvPr id="1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46213" y="1449586"/>
            <a:ext cx="7079218" cy="3009900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712351" y="6838474"/>
            <a:ext cx="13205579" cy="887968"/>
          </a:xfrm>
          <a:prstGeom prst="roundRect">
            <a:avLst>
              <a:gd name="adj" fmla="val 7921"/>
            </a:avLst>
          </a:prstGeom>
          <a:solidFill>
            <a:srgbClr val="B6D6FC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9753" y="7083981"/>
            <a:ext cx="209312" cy="167402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1256467" y="7021473"/>
            <a:ext cx="12494062" cy="4941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9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Hybrid ≈ GB and Stack ≈ GB — ensemble methods did not improve over Gradient Boosting alone, indicating the base models are not sufficiently complementary.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301954" y="377190"/>
            <a:ext cx="3532108" cy="4370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400"/>
              </a:lnSpc>
              <a:buNone/>
            </a:pPr>
            <a:r>
              <a:rPr lang="en-US" sz="2750" b="1" dirty="0">
                <a:solidFill>
                  <a:srgbClr val="F95F88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Graph Interpretations</a:t>
            </a:r>
            <a:endParaRPr lang="en-US" sz="275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60345" y="977146"/>
            <a:ext cx="2357438" cy="235743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064907" y="3436382"/>
            <a:ext cx="1748195" cy="2184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RMSE Across Folds</a:t>
            </a:r>
            <a:endParaRPr lang="en-US" sz="1350" dirty="0"/>
          </a:p>
        </p:txBody>
      </p:sp>
      <p:sp>
        <p:nvSpPr>
          <p:cNvPr id="5" name="Text 2"/>
          <p:cNvSpPr/>
          <p:nvPr/>
        </p:nvSpPr>
        <p:spPr>
          <a:xfrm>
            <a:off x="2301954" y="3703677"/>
            <a:ext cx="3274219" cy="5004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300"/>
              </a:lnSpc>
              <a:buNone/>
            </a:pPr>
            <a:r>
              <a:rPr lang="en-US" sz="10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GB is consistently lower across all folds. Ridge &amp; Lasso show large spikes — indicating instability and underfitting.</a:t>
            </a:r>
            <a:endParaRPr lang="en-US" sz="1000" dirty="0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36362" y="977146"/>
            <a:ext cx="2357438" cy="2357438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6331148" y="3436382"/>
            <a:ext cx="1967984" cy="2184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Actual vs. Predicted (GB)</a:t>
            </a:r>
            <a:endParaRPr lang="en-US" sz="1350" dirty="0"/>
          </a:p>
        </p:txBody>
      </p:sp>
      <p:sp>
        <p:nvSpPr>
          <p:cNvPr id="8" name="Text 4"/>
          <p:cNvSpPr/>
          <p:nvPr/>
        </p:nvSpPr>
        <p:spPr>
          <a:xfrm>
            <a:off x="5677972" y="3703677"/>
            <a:ext cx="3274338" cy="5004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300"/>
              </a:lnSpc>
              <a:buNone/>
            </a:pPr>
            <a:r>
              <a:rPr lang="en-US" sz="10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Points align closely along the diagonal — accurate overall. Slight spread at higher prices reveals larger errors for expensive houses.</a:t>
            </a:r>
            <a:endParaRPr lang="en-US" sz="1000" dirty="0"/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12498" y="977146"/>
            <a:ext cx="2357438" cy="2357438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9817060" y="3436382"/>
            <a:ext cx="1748195" cy="2184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Residual Distribution</a:t>
            </a:r>
            <a:endParaRPr lang="en-US" sz="1350" dirty="0"/>
          </a:p>
        </p:txBody>
      </p:sp>
      <p:sp>
        <p:nvSpPr>
          <p:cNvPr id="11" name="Text 6"/>
          <p:cNvSpPr/>
          <p:nvPr/>
        </p:nvSpPr>
        <p:spPr>
          <a:xfrm>
            <a:off x="9054108" y="3703677"/>
            <a:ext cx="3274219" cy="5004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300"/>
              </a:lnSpc>
              <a:buNone/>
            </a:pPr>
            <a:r>
              <a:rPr lang="en-US" sz="10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Centered around 0 — model is unbiased. Most residuals within ±30k, confirming RMSE ≈ 29k. Some large outliers increase RMSE.</a:t>
            </a:r>
            <a:endParaRPr lang="en-US" sz="1000" dirty="0"/>
          </a:p>
        </p:txBody>
      </p:sp>
      <p:pic>
        <p:nvPicPr>
          <p:cNvPr id="12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36362" y="4366974"/>
            <a:ext cx="2357438" cy="2357438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6441043" y="6826210"/>
            <a:ext cx="1748195" cy="2184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Error vs. Price</a:t>
            </a:r>
            <a:endParaRPr lang="en-US" sz="1350" dirty="0"/>
          </a:p>
        </p:txBody>
      </p:sp>
      <p:sp>
        <p:nvSpPr>
          <p:cNvPr id="14" name="Text 8"/>
          <p:cNvSpPr/>
          <p:nvPr/>
        </p:nvSpPr>
        <p:spPr>
          <a:xfrm>
            <a:off x="5677972" y="7093506"/>
            <a:ext cx="3274338" cy="5004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300"/>
              </a:lnSpc>
              <a:buNone/>
            </a:pPr>
            <a:r>
              <a:rPr lang="en-US" sz="10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Clear pattern: higher price → larger error. Suggests </a:t>
            </a:r>
            <a:r>
              <a:rPr lang="en-US" sz="1000" b="1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heteroscedasticity</a:t>
            </a:r>
            <a:r>
              <a:rPr lang="en-US" sz="10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— model struggles most with expensive houses.</a:t>
            </a:r>
            <a:endParaRPr lang="en-US" sz="1000" dirty="0"/>
          </a:p>
        </p:txBody>
      </p:sp>
      <p:sp>
        <p:nvSpPr>
          <p:cNvPr id="15" name="Text 9"/>
          <p:cNvSpPr/>
          <p:nvPr/>
        </p:nvSpPr>
        <p:spPr>
          <a:xfrm>
            <a:off x="2301954" y="7685484"/>
            <a:ext cx="10026491" cy="1668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10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Top features by importance: </a:t>
            </a:r>
            <a:r>
              <a:rPr lang="en-US" sz="1000" b="1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OverallQual, GrLivArea, TotalBsmtSF</a:t>
            </a:r>
            <a:r>
              <a:rPr lang="en-US" sz="10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— matching real-world intuition and confirming the model learns meaningful patterns.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1070372"/>
            <a:ext cx="5786795" cy="6822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350"/>
              </a:lnSpc>
              <a:buNone/>
            </a:pPr>
            <a:r>
              <a:rPr lang="en-US" sz="4250" b="1" dirty="0">
                <a:solidFill>
                  <a:srgbClr val="F95F88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Challenges &amp; Solutions</a:t>
            </a:r>
            <a:endParaRPr lang="en-US" sz="4250" dirty="0"/>
          </a:p>
        </p:txBody>
      </p:sp>
      <p:sp>
        <p:nvSpPr>
          <p:cNvPr id="3" name="Shape 1"/>
          <p:cNvSpPr/>
          <p:nvPr/>
        </p:nvSpPr>
        <p:spPr>
          <a:xfrm>
            <a:off x="793790" y="2149435"/>
            <a:ext cx="6422231" cy="1537692"/>
          </a:xfrm>
          <a:prstGeom prst="roundRect">
            <a:avLst>
              <a:gd name="adj" fmla="val 7136"/>
            </a:avLst>
          </a:prstGeom>
          <a:solidFill>
            <a:srgbClr val="FDFAF7"/>
          </a:solidFill>
          <a:ln w="22860">
            <a:solidFill>
              <a:srgbClr val="C6BDD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770930" y="2149435"/>
            <a:ext cx="91440" cy="1537692"/>
          </a:xfrm>
          <a:prstGeom prst="roundRect">
            <a:avLst>
              <a:gd name="adj" fmla="val 91163"/>
            </a:avLst>
          </a:prstGeom>
          <a:solidFill>
            <a:srgbClr val="6237C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083588" y="2370653"/>
            <a:ext cx="2728913" cy="3411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50"/>
              </a:lnSpc>
              <a:buNone/>
            </a:pPr>
            <a:r>
              <a:rPr lang="en-US" sz="210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Scope Too Simple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1083588" y="2830830"/>
            <a:ext cx="5911215" cy="635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15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Initial design was a basic model comparison → expanded to hybrid + stacking to study model complementarity.</a:t>
            </a:r>
            <a:endParaRPr lang="en-US" sz="1550" dirty="0"/>
          </a:p>
        </p:txBody>
      </p:sp>
      <p:sp>
        <p:nvSpPr>
          <p:cNvPr id="7" name="Shape 5"/>
          <p:cNvSpPr/>
          <p:nvPr/>
        </p:nvSpPr>
        <p:spPr>
          <a:xfrm>
            <a:off x="7414379" y="2149435"/>
            <a:ext cx="6422231" cy="1537692"/>
          </a:xfrm>
          <a:prstGeom prst="roundRect">
            <a:avLst>
              <a:gd name="adj" fmla="val 7136"/>
            </a:avLst>
          </a:prstGeom>
          <a:solidFill>
            <a:srgbClr val="FDFAF7"/>
          </a:solidFill>
          <a:ln w="22860">
            <a:solidFill>
              <a:srgbClr val="C6BDD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7391519" y="2149435"/>
            <a:ext cx="91440" cy="1537692"/>
          </a:xfrm>
          <a:prstGeom prst="roundRect">
            <a:avLst>
              <a:gd name="adj" fmla="val 91163"/>
            </a:avLst>
          </a:prstGeom>
          <a:solidFill>
            <a:srgbClr val="6237C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7704177" y="2370653"/>
            <a:ext cx="2949773" cy="3411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50"/>
              </a:lnSpc>
              <a:buNone/>
            </a:pPr>
            <a:r>
              <a:rPr lang="en-US" sz="210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Complex Preprocessing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7704177" y="2830830"/>
            <a:ext cx="5911215" cy="635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15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Handled via a structured pipeline: imputation, encoding, log transformation, and ordinal mapping.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793790" y="3885486"/>
            <a:ext cx="6422231" cy="1537692"/>
          </a:xfrm>
          <a:prstGeom prst="roundRect">
            <a:avLst>
              <a:gd name="adj" fmla="val 7136"/>
            </a:avLst>
          </a:prstGeom>
          <a:solidFill>
            <a:srgbClr val="FDFAF7"/>
          </a:solidFill>
          <a:ln w="22860">
            <a:solidFill>
              <a:srgbClr val="C6BDD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770930" y="3885486"/>
            <a:ext cx="91440" cy="1537692"/>
          </a:xfrm>
          <a:prstGeom prst="roundRect">
            <a:avLst>
              <a:gd name="adj" fmla="val 91163"/>
            </a:avLst>
          </a:prstGeom>
          <a:solidFill>
            <a:srgbClr val="6237C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1083588" y="4106704"/>
            <a:ext cx="3983117" cy="3411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50"/>
              </a:lnSpc>
              <a:buNone/>
            </a:pPr>
            <a:r>
              <a:rPr lang="en-US" sz="210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Linear Models Underperformed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1083588" y="4566880"/>
            <a:ext cx="5911215" cy="635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15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Ridge and Lasso showed high, unstable RMSE → introduced Gradient Boosting as the primary nonlinear model.</a:t>
            </a:r>
            <a:endParaRPr lang="en-US" sz="1550" dirty="0"/>
          </a:p>
        </p:txBody>
      </p:sp>
      <p:sp>
        <p:nvSpPr>
          <p:cNvPr id="15" name="Shape 13"/>
          <p:cNvSpPr/>
          <p:nvPr/>
        </p:nvSpPr>
        <p:spPr>
          <a:xfrm>
            <a:off x="7414379" y="3885486"/>
            <a:ext cx="6422231" cy="1537692"/>
          </a:xfrm>
          <a:prstGeom prst="roundRect">
            <a:avLst>
              <a:gd name="adj" fmla="val 7136"/>
            </a:avLst>
          </a:prstGeom>
          <a:solidFill>
            <a:srgbClr val="FDFAF7"/>
          </a:solidFill>
          <a:ln w="22860">
            <a:solidFill>
              <a:srgbClr val="C6BDD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7391519" y="3885486"/>
            <a:ext cx="91440" cy="1537692"/>
          </a:xfrm>
          <a:prstGeom prst="roundRect">
            <a:avLst>
              <a:gd name="adj" fmla="val 91163"/>
            </a:avLst>
          </a:prstGeom>
          <a:solidFill>
            <a:srgbClr val="6237C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7704177" y="4106704"/>
            <a:ext cx="3628192" cy="3411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50"/>
              </a:lnSpc>
              <a:buNone/>
            </a:pPr>
            <a:r>
              <a:rPr lang="en-US" sz="210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Hybrid Model Failed Initially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7704177" y="4566880"/>
            <a:ext cx="5911215" cy="635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15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Residual-based hybrid did not work → switched to weighted hybrid: ŷ = α·ŷ_ridge + (1−α)·ŷ_GB.</a:t>
            </a:r>
            <a:endParaRPr lang="en-US" sz="1550" dirty="0"/>
          </a:p>
        </p:txBody>
      </p:sp>
      <p:sp>
        <p:nvSpPr>
          <p:cNvPr id="19" name="Shape 17"/>
          <p:cNvSpPr/>
          <p:nvPr/>
        </p:nvSpPr>
        <p:spPr>
          <a:xfrm>
            <a:off x="793790" y="5621536"/>
            <a:ext cx="6422231" cy="1537692"/>
          </a:xfrm>
          <a:prstGeom prst="roundRect">
            <a:avLst>
              <a:gd name="adj" fmla="val 7136"/>
            </a:avLst>
          </a:prstGeom>
          <a:solidFill>
            <a:srgbClr val="FDFAF7"/>
          </a:solidFill>
          <a:ln w="22860">
            <a:solidFill>
              <a:srgbClr val="C6BDD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770930" y="5621536"/>
            <a:ext cx="91440" cy="1537692"/>
          </a:xfrm>
          <a:prstGeom prst="roundRect">
            <a:avLst>
              <a:gd name="adj" fmla="val 91163"/>
            </a:avLst>
          </a:prstGeom>
          <a:solidFill>
            <a:srgbClr val="6237C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1083588" y="5842754"/>
            <a:ext cx="2728913" cy="3411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50"/>
              </a:lnSpc>
              <a:buNone/>
            </a:pPr>
            <a:r>
              <a:rPr lang="en-US" sz="210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Data Leakage Risk</a:t>
            </a:r>
            <a:endParaRPr lang="en-US" sz="2100" dirty="0"/>
          </a:p>
        </p:txBody>
      </p:sp>
      <p:sp>
        <p:nvSpPr>
          <p:cNvPr id="22" name="Text 20"/>
          <p:cNvSpPr/>
          <p:nvPr/>
        </p:nvSpPr>
        <p:spPr>
          <a:xfrm>
            <a:off x="1083588" y="6302931"/>
            <a:ext cx="5911215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15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Avoided by not tuning α dynamically on validation data.</a:t>
            </a:r>
            <a:endParaRPr lang="en-US" sz="1550" dirty="0"/>
          </a:p>
        </p:txBody>
      </p:sp>
      <p:sp>
        <p:nvSpPr>
          <p:cNvPr id="23" name="Shape 21"/>
          <p:cNvSpPr/>
          <p:nvPr/>
        </p:nvSpPr>
        <p:spPr>
          <a:xfrm>
            <a:off x="7414379" y="5621536"/>
            <a:ext cx="6422231" cy="1537692"/>
          </a:xfrm>
          <a:prstGeom prst="roundRect">
            <a:avLst>
              <a:gd name="adj" fmla="val 7136"/>
            </a:avLst>
          </a:prstGeom>
          <a:solidFill>
            <a:srgbClr val="FDFAF7"/>
          </a:solidFill>
          <a:ln w="22860">
            <a:solidFill>
              <a:srgbClr val="C6BDD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7391519" y="5621536"/>
            <a:ext cx="91440" cy="1537692"/>
          </a:xfrm>
          <a:prstGeom prst="roundRect">
            <a:avLst>
              <a:gd name="adj" fmla="val 91163"/>
            </a:avLst>
          </a:prstGeom>
          <a:solidFill>
            <a:srgbClr val="6237C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7704177" y="5842754"/>
            <a:ext cx="3223974" cy="3411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50"/>
              </a:lnSpc>
              <a:buNone/>
            </a:pPr>
            <a:r>
              <a:rPr lang="en-US" sz="210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Stacking Did Not Improve</a:t>
            </a:r>
            <a:endParaRPr lang="en-US" sz="2100" dirty="0"/>
          </a:p>
        </p:txBody>
      </p:sp>
      <p:sp>
        <p:nvSpPr>
          <p:cNvPr id="26" name="Text 24"/>
          <p:cNvSpPr/>
          <p:nvPr/>
        </p:nvSpPr>
        <p:spPr>
          <a:xfrm>
            <a:off x="7704177" y="6302931"/>
            <a:ext cx="5911215" cy="635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15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Revealed lack of model complementarity — GB already captures both linear and nonlinear relationships.</a:t>
            </a:r>
            <a:endParaRPr lang="en-US" sz="15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79183" y="513278"/>
            <a:ext cx="6104811" cy="5436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250"/>
              </a:lnSpc>
              <a:buNone/>
            </a:pPr>
            <a:r>
              <a:rPr lang="en-US" sz="3400" b="1" dirty="0">
                <a:solidFill>
                  <a:srgbClr val="F95F88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Final Report Plan &amp; Next Steps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965359" y="1245870"/>
            <a:ext cx="6270665" cy="5516285"/>
          </a:xfrm>
          <a:prstGeom prst="roundRect">
            <a:avLst>
              <a:gd name="adj" fmla="val 2064"/>
            </a:avLst>
          </a:prstGeom>
          <a:solidFill>
            <a:srgbClr val="6237C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123474" y="1371838"/>
            <a:ext cx="2523887" cy="2718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Final Report Will Include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1123474" y="1769626"/>
            <a:ext cx="5954435" cy="15018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1750"/>
              </a:lnSpc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Finalized comparisons across all models</a:t>
            </a:r>
            <a:endParaRPr lang="en-US" sz="1200" dirty="0"/>
          </a:p>
          <a:p>
            <a:pPr marL="342900" indent="-342900" algn="l">
              <a:lnSpc>
                <a:spcPts val="1750"/>
              </a:lnSpc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Improved explanation of hybrid and stacking approaches</a:t>
            </a:r>
            <a:endParaRPr lang="en-US" sz="1200" dirty="0"/>
          </a:p>
          <a:p>
            <a:pPr marL="342900" indent="-342900" algn="l">
              <a:lnSpc>
                <a:spcPts val="1750"/>
              </a:lnSpc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Strengthened graph interpretation</a:t>
            </a:r>
            <a:endParaRPr lang="en-US" sz="1200" dirty="0"/>
          </a:p>
          <a:p>
            <a:pPr marL="342900" indent="-342900" algn="l">
              <a:lnSpc>
                <a:spcPts val="1750"/>
              </a:lnSpc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Clear connection of results back to hypothesis</a:t>
            </a:r>
          </a:p>
          <a:p>
            <a:pPr marL="342900" indent="-342900">
              <a:lnSpc>
                <a:spcPts val="1750"/>
              </a:lnSpc>
              <a:buSzPct val="100000"/>
              <a:buFontTx/>
              <a:buChar char="•"/>
            </a:pPr>
            <a:r>
              <a:rPr lang="en-US" altLang="zh-CN" sz="1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Test</a:t>
            </a:r>
            <a:r>
              <a:rPr lang="zh-CN" altLang="en-US" sz="1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r>
              <a:rPr lang="en-US" altLang="zh-CN" sz="1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Kaggle</a:t>
            </a:r>
            <a:r>
              <a:rPr lang="zh-CN" altLang="en-US" sz="1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r>
              <a:rPr lang="en-US" altLang="zh-CN" sz="1200" dirty="0" err="1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test.csv</a:t>
            </a:r>
            <a:r>
              <a:rPr lang="zh-CN" altLang="en-US" sz="1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r>
              <a:rPr lang="en-US" altLang="zh-CN" sz="1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</a:t>
            </a:r>
            <a:r>
              <a:rPr lang="zh-CN" altLang="en-US" sz="1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r>
              <a:rPr lang="en-US" altLang="zh-CN" sz="1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verify</a:t>
            </a:r>
            <a:r>
              <a:rPr lang="zh-CN" altLang="en-US" sz="1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r>
              <a:rPr lang="en-US" altLang="zh-CN" sz="1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result</a:t>
            </a:r>
            <a:r>
              <a:rPr lang="zh-CN" altLang="en-US" sz="1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endParaRPr lang="en-US" sz="1200" dirty="0">
              <a:solidFill>
                <a:srgbClr val="FFFFFF"/>
              </a:solidFill>
              <a:latin typeface="Inter" pitchFamily="34" charset="0"/>
              <a:ea typeface="Inter" pitchFamily="34" charset="-122"/>
              <a:cs typeface="Inter" pitchFamily="34" charset="-120"/>
            </a:endParaRPr>
          </a:p>
          <a:p>
            <a:pPr marL="342900" indent="-342900" algn="l">
              <a:lnSpc>
                <a:spcPts val="1750"/>
              </a:lnSpc>
              <a:buSzPct val="100000"/>
              <a:buChar char="•"/>
            </a:pP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7515582" y="1371838"/>
            <a:ext cx="2174677" cy="2718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700" b="1" dirty="0">
                <a:solidFill>
                  <a:srgbClr val="F95F88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If Time Permits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7515582" y="1785342"/>
            <a:ext cx="316230" cy="1976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50"/>
              </a:lnSpc>
              <a:buNone/>
            </a:pPr>
            <a:r>
              <a:rPr lang="en-US" sz="1200" dirty="0">
                <a:solidFill>
                  <a:srgbClr val="272525"/>
                </a:solidFill>
                <a:latin typeface="Petrona Light" pitchFamily="34" charset="0"/>
                <a:ea typeface="Petrona Light" pitchFamily="34" charset="-122"/>
                <a:cs typeface="Petrona Light" pitchFamily="34" charset="-120"/>
              </a:rPr>
              <a:t>01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7515582" y="2031206"/>
            <a:ext cx="6043017" cy="22860"/>
          </a:xfrm>
          <a:prstGeom prst="rect">
            <a:avLst/>
          </a:prstGeom>
          <a:solidFill>
            <a:srgbClr val="6237C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7515582" y="2155984"/>
            <a:ext cx="2859762" cy="2718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70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Explore LightGBM / XGBoost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7515582" y="2553772"/>
            <a:ext cx="6043017" cy="2272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50"/>
              </a:lnSpc>
              <a:buNone/>
            </a:pPr>
            <a:r>
              <a:rPr lang="en-US" sz="12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More powerful boosting alternatives to test further gains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515582" y="3025616"/>
            <a:ext cx="316230" cy="1976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50"/>
              </a:lnSpc>
              <a:buNone/>
            </a:pPr>
            <a:r>
              <a:rPr lang="en-US" sz="1200" dirty="0">
                <a:solidFill>
                  <a:srgbClr val="272525"/>
                </a:solidFill>
                <a:latin typeface="Petrona Light" pitchFamily="34" charset="0"/>
                <a:ea typeface="Petrona Light" pitchFamily="34" charset="-122"/>
                <a:cs typeface="Petrona Light" pitchFamily="34" charset="-120"/>
              </a:rPr>
              <a:t>02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515582" y="3271480"/>
            <a:ext cx="6043017" cy="22860"/>
          </a:xfrm>
          <a:prstGeom prst="rect">
            <a:avLst/>
          </a:prstGeom>
          <a:solidFill>
            <a:srgbClr val="6237C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7515582" y="3396258"/>
            <a:ext cx="2237899" cy="2718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70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More Diverse Stacking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7515582" y="3794046"/>
            <a:ext cx="6043017" cy="2272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50"/>
              </a:lnSpc>
              <a:buNone/>
            </a:pPr>
            <a:r>
              <a:rPr lang="en-US" sz="12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Improve ensemble with additional base models for true complementarity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7515582" y="4265890"/>
            <a:ext cx="316230" cy="1976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50"/>
              </a:lnSpc>
              <a:buNone/>
            </a:pPr>
            <a:r>
              <a:rPr lang="en-US" sz="1200" dirty="0">
                <a:solidFill>
                  <a:srgbClr val="272525"/>
                </a:solidFill>
                <a:latin typeface="Petrona Light" pitchFamily="34" charset="0"/>
                <a:ea typeface="Petrona Light" pitchFamily="34" charset="-122"/>
                <a:cs typeface="Petrona Light" pitchFamily="34" charset="-120"/>
              </a:rPr>
              <a:t>03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515582" y="4511754"/>
            <a:ext cx="6043017" cy="22860"/>
          </a:xfrm>
          <a:prstGeom prst="rect">
            <a:avLst/>
          </a:prstGeom>
          <a:solidFill>
            <a:srgbClr val="6237C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7515582" y="4636532"/>
            <a:ext cx="2174677" cy="2718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70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Feature Engineering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7515582" y="5034320"/>
            <a:ext cx="6043017" cy="2272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50"/>
              </a:lnSpc>
              <a:buNone/>
            </a:pPr>
            <a:r>
              <a:rPr lang="en-US" sz="12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Create new features to improve signal quality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515582" y="5506164"/>
            <a:ext cx="316230" cy="1976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50"/>
              </a:lnSpc>
              <a:buNone/>
            </a:pPr>
            <a:r>
              <a:rPr lang="en-US" sz="1200" dirty="0">
                <a:solidFill>
                  <a:srgbClr val="272525"/>
                </a:solidFill>
                <a:latin typeface="Petrona Light" pitchFamily="34" charset="0"/>
                <a:ea typeface="Petrona Light" pitchFamily="34" charset="-122"/>
                <a:cs typeface="Petrona Light" pitchFamily="34" charset="-120"/>
              </a:rPr>
              <a:t>04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7515582" y="5752028"/>
            <a:ext cx="6043017" cy="22860"/>
          </a:xfrm>
          <a:prstGeom prst="rect">
            <a:avLst/>
          </a:prstGeom>
          <a:solidFill>
            <a:srgbClr val="6237C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7515582" y="5876806"/>
            <a:ext cx="2932390" cy="2718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70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Error Analysis by Price Range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7515582" y="6274594"/>
            <a:ext cx="6043017" cy="2272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50"/>
              </a:lnSpc>
              <a:buNone/>
            </a:pPr>
            <a:r>
              <a:rPr lang="en-US" sz="12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Address heteroscedasticity and improve accuracy for expensive houses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1079183" y="6903839"/>
            <a:ext cx="12471916" cy="812483"/>
          </a:xfrm>
          <a:prstGeom prst="roundRect">
            <a:avLst>
              <a:gd name="adj" fmla="val 8176"/>
            </a:avLst>
          </a:prstGeom>
          <a:solidFill>
            <a:srgbClr val="B6FCB8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7298" y="7130772"/>
            <a:ext cx="197644" cy="158115"/>
          </a:xfrm>
          <a:prstGeom prst="rect">
            <a:avLst/>
          </a:prstGeom>
        </p:spPr>
      </p:pic>
      <p:sp>
        <p:nvSpPr>
          <p:cNvPr id="25" name="Text 22"/>
          <p:cNvSpPr/>
          <p:nvPr/>
        </p:nvSpPr>
        <p:spPr>
          <a:xfrm>
            <a:off x="1593056" y="7069336"/>
            <a:ext cx="11799927" cy="4545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75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Key Takeaway: Gradient Boosting already captures both linear and nonlinear relationships, leaving little room for ensemble gains — a meaningful finding in itself.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644</Words>
  <Application>Microsoft Macintosh PowerPoint</Application>
  <PresentationFormat>Custom</PresentationFormat>
  <Paragraphs>85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1" baseType="lpstr">
      <vt:lpstr>Petrona Bold</vt:lpstr>
      <vt:lpstr>Petrona Light</vt:lpstr>
      <vt:lpstr>Arial</vt:lpstr>
      <vt:lpstr>Inter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lastModifiedBy>Jeremy Guan</cp:lastModifiedBy>
  <cp:revision>3</cp:revision>
  <dcterms:created xsi:type="dcterms:W3CDTF">2026-04-23T03:18:39Z</dcterms:created>
  <dcterms:modified xsi:type="dcterms:W3CDTF">2026-04-24T01:23:30Z</dcterms:modified>
</cp:coreProperties>
</file>